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5EB2812-0997-279A-F708-A8743DAE8F74}"/>
              </a:ext>
            </a:extLst>
          </p:cNvPr>
          <p:cNvSpPr/>
          <p:nvPr/>
        </p:nvSpPr>
        <p:spPr>
          <a:xfrm>
            <a:off x="5203316" y="48463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27741F0-8529-F77D-DCDB-31C505751D7A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AA2BCA8-51E8-7A80-A4F7-89F14FF94F24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E98657CF-6EB0-6B31-1FF4-6E00FD2D0457}"/>
              </a:ext>
            </a:extLst>
          </p:cNvPr>
          <p:cNvSpPr/>
          <p:nvPr/>
        </p:nvSpPr>
        <p:spPr>
          <a:xfrm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18401A7F-455D-5C93-63AF-61DE86F92B0E}"/>
              </a:ext>
            </a:extLst>
          </p:cNvPr>
          <p:cNvSpPr/>
          <p:nvPr/>
        </p:nvSpPr>
        <p:spPr>
          <a:xfrm rot="434803"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67BF41A6-2169-7EBD-DA74-37291E8FB7E3}"/>
              </a:ext>
            </a:extLst>
          </p:cNvPr>
          <p:cNvSpPr/>
          <p:nvPr/>
        </p:nvSpPr>
        <p:spPr>
          <a:xfrm rot="20962273">
            <a:off x="7472357" y="342900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20A9BDF1-9591-3883-AB06-644867B7F94E}"/>
              </a:ext>
            </a:extLst>
          </p:cNvPr>
          <p:cNvSpPr/>
          <p:nvPr/>
        </p:nvSpPr>
        <p:spPr>
          <a:xfrm rot="20774719">
            <a:off x="1139668" y="298628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7E153D32-9797-58D7-CEE8-D182A4A4A000}"/>
              </a:ext>
            </a:extLst>
          </p:cNvPr>
          <p:cNvSpPr/>
          <p:nvPr/>
        </p:nvSpPr>
        <p:spPr>
          <a:xfrm rot="1535706">
            <a:off x="521968" y="161544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47EABFD9-80B9-DF1E-BD0E-3E43FF8D7765}"/>
              </a:ext>
            </a:extLst>
          </p:cNvPr>
          <p:cNvSpPr/>
          <p:nvPr/>
        </p:nvSpPr>
        <p:spPr>
          <a:xfrm rot="307080"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C804F268-2E92-FDA7-5439-7AEE1AC0624A}"/>
              </a:ext>
            </a:extLst>
          </p:cNvPr>
          <p:cNvSpPr/>
          <p:nvPr/>
        </p:nvSpPr>
        <p:spPr>
          <a:xfrm rot="21268621">
            <a:off x="3369182" y="517875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6" name="Kép 15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A4CD4F5-5DB7-6087-8044-6A94E4519A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25984"/>
            <a:ext cx="7772400" cy="1470025"/>
          </a:xfrm>
        </p:spPr>
        <p:txBody>
          <a:bodyPr/>
          <a:lstStyle/>
          <a:p>
            <a:r>
              <a:rPr b="1" dirty="0" err="1">
                <a:solidFill>
                  <a:schemeClr val="bg1"/>
                </a:solidFill>
              </a:rPr>
              <a:t>Memóriajáték</a:t>
            </a:r>
            <a:r>
              <a:rPr b="1" dirty="0">
                <a:solidFill>
                  <a:schemeClr val="bg1"/>
                </a:solidFill>
              </a:rPr>
              <a:t> Projekt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Webes </a:t>
            </a:r>
            <a:r>
              <a:rPr b="1" dirty="0" err="1">
                <a:solidFill>
                  <a:schemeClr val="bg1"/>
                </a:solidFill>
              </a:rPr>
              <a:t>memóriajáték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bemutatása</a:t>
            </a:r>
            <a:endParaRPr b="1" dirty="0">
              <a:solidFill>
                <a:schemeClr val="bg1"/>
              </a:solidFill>
            </a:endParaRPr>
          </a:p>
          <a:p>
            <a:r>
              <a:rPr b="1" dirty="0" err="1">
                <a:solidFill>
                  <a:schemeClr val="bg1"/>
                </a:solidFill>
              </a:rPr>
              <a:t>Készítők</a:t>
            </a:r>
            <a:r>
              <a:rPr b="1" dirty="0">
                <a:solidFill>
                  <a:schemeClr val="bg1"/>
                </a:solidFill>
              </a:rPr>
              <a:t>: </a:t>
            </a:r>
            <a:r>
              <a:rPr lang="hu-HU" b="1" dirty="0" err="1">
                <a:solidFill>
                  <a:schemeClr val="bg1"/>
                </a:solidFill>
              </a:rPr>
              <a:t>Gibi</a:t>
            </a:r>
            <a:r>
              <a:rPr lang="hu-HU" b="1" dirty="0">
                <a:solidFill>
                  <a:schemeClr val="bg1"/>
                </a:solidFill>
              </a:rPr>
              <a:t>, </a:t>
            </a:r>
            <a:r>
              <a:rPr lang="hu-HU" b="1" dirty="0" err="1">
                <a:solidFill>
                  <a:schemeClr val="bg1"/>
                </a:solidFill>
              </a:rPr>
              <a:t>Adi</a:t>
            </a:r>
            <a:r>
              <a:rPr lang="hu-HU" b="1" dirty="0">
                <a:solidFill>
                  <a:schemeClr val="bg1"/>
                </a:solidFill>
              </a:rPr>
              <a:t>, </a:t>
            </a:r>
            <a:r>
              <a:rPr lang="hu-HU" b="1" dirty="0" err="1">
                <a:solidFill>
                  <a:schemeClr val="bg1"/>
                </a:solidFill>
              </a:rPr>
              <a:t>Alek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BACB138-86A9-C51D-5DAC-D468AF4F80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A41D6286-60C5-EFA6-48EC-238D8D1E315B}"/>
              </a:ext>
            </a:extLst>
          </p:cNvPr>
          <p:cNvSpPr/>
          <p:nvPr/>
        </p:nvSpPr>
        <p:spPr>
          <a:xfrm>
            <a:off x="7468096" y="24780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EBA4E188-3EF1-AA93-37EC-1F1FD026D601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3D6AD425-12F9-48CA-4993-B4ADB4EBB770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88F985-3E02-56CB-18A6-4F690D6A611B}"/>
              </a:ext>
            </a:extLst>
          </p:cNvPr>
          <p:cNvSpPr/>
          <p:nvPr/>
        </p:nvSpPr>
        <p:spPr>
          <a:xfrm rot="20626805"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6D184141-599F-0241-7E48-B28B2A3AAA0E}"/>
              </a:ext>
            </a:extLst>
          </p:cNvPr>
          <p:cNvSpPr/>
          <p:nvPr/>
        </p:nvSpPr>
        <p:spPr>
          <a:xfrm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B52A439D-08D5-6A22-6E5F-89EE6BD78F16}"/>
              </a:ext>
            </a:extLst>
          </p:cNvPr>
          <p:cNvSpPr/>
          <p:nvPr/>
        </p:nvSpPr>
        <p:spPr>
          <a:xfrm>
            <a:off x="6547863" y="34290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100304CF-F731-8088-C06E-E5F638F02635}"/>
              </a:ext>
            </a:extLst>
          </p:cNvPr>
          <p:cNvSpPr/>
          <p:nvPr/>
        </p:nvSpPr>
        <p:spPr>
          <a:xfrm rot="379242">
            <a:off x="2081995" y="536734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E84F50BA-E88A-7CE1-0071-C17EA21B0F44}"/>
              </a:ext>
            </a:extLst>
          </p:cNvPr>
          <p:cNvSpPr/>
          <p:nvPr/>
        </p:nvSpPr>
        <p:spPr>
          <a:xfrm>
            <a:off x="5049818" y="23853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81D2D524-2387-E3DE-6411-780632E0D7BE}"/>
              </a:ext>
            </a:extLst>
          </p:cNvPr>
          <p:cNvSpPr/>
          <p:nvPr/>
        </p:nvSpPr>
        <p:spPr>
          <a:xfrm rot="21306576"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67E1CD44-80A3-1427-8CC0-C71321106F10}"/>
              </a:ext>
            </a:extLst>
          </p:cNvPr>
          <p:cNvSpPr/>
          <p:nvPr/>
        </p:nvSpPr>
        <p:spPr>
          <a:xfrm rot="492505">
            <a:off x="3854963" y="509968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094" y="167313"/>
            <a:ext cx="8229600" cy="1143000"/>
          </a:xfrm>
        </p:spPr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A </a:t>
            </a:r>
            <a:r>
              <a:rPr b="1" dirty="0" err="1">
                <a:solidFill>
                  <a:schemeClr val="bg1"/>
                </a:solidFill>
              </a:rPr>
              <a:t>projekt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célja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751" y="177107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chemeClr val="bg1"/>
                </a:solidFill>
              </a:rPr>
              <a:t>Egy </a:t>
            </a:r>
            <a:r>
              <a:rPr b="1" dirty="0" err="1">
                <a:solidFill>
                  <a:schemeClr val="bg1"/>
                </a:solidFill>
              </a:rPr>
              <a:t>interaktív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memóriajáték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készítése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webes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környezetben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Felhasználóbarát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felület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kialakítása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Pontszám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és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idő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mérés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beépítése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Több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nehézségi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szint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biztosítása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4209A6F-C918-5578-26F4-A3F9623494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479B902B-576C-1D92-3FBA-C3EDF4C686D0}"/>
              </a:ext>
            </a:extLst>
          </p:cNvPr>
          <p:cNvSpPr/>
          <p:nvPr/>
        </p:nvSpPr>
        <p:spPr>
          <a:xfrm>
            <a:off x="5203316" y="48463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09DC6AB4-6273-7413-0123-0A479AEB3C9C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20EF35D3-E4F4-7265-E7B7-A8A5E1140909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7BA9F4E4-EB0B-003C-FCB9-C7F487F3E845}"/>
              </a:ext>
            </a:extLst>
          </p:cNvPr>
          <p:cNvSpPr/>
          <p:nvPr/>
        </p:nvSpPr>
        <p:spPr>
          <a:xfrm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F6AF26B7-49F5-759B-2B15-0F6A1764E549}"/>
              </a:ext>
            </a:extLst>
          </p:cNvPr>
          <p:cNvSpPr/>
          <p:nvPr/>
        </p:nvSpPr>
        <p:spPr>
          <a:xfrm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3E078EAC-E991-903F-81FC-DF4CD675CEE1}"/>
              </a:ext>
            </a:extLst>
          </p:cNvPr>
          <p:cNvSpPr/>
          <p:nvPr/>
        </p:nvSpPr>
        <p:spPr>
          <a:xfrm>
            <a:off x="6547863" y="34290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D4AA7A6F-58F0-ED86-B627-A1E8FA8959C8}"/>
              </a:ext>
            </a:extLst>
          </p:cNvPr>
          <p:cNvSpPr/>
          <p:nvPr/>
        </p:nvSpPr>
        <p:spPr>
          <a:xfrm>
            <a:off x="1741641" y="298628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C6D6847C-9765-ABE8-3CA9-3C297A7EE6D5}"/>
              </a:ext>
            </a:extLst>
          </p:cNvPr>
          <p:cNvSpPr/>
          <p:nvPr/>
        </p:nvSpPr>
        <p:spPr>
          <a:xfrm>
            <a:off x="5049818" y="23853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F18AA2A8-350B-F74D-19E9-4A56FA930432}"/>
              </a:ext>
            </a:extLst>
          </p:cNvPr>
          <p:cNvSpPr/>
          <p:nvPr/>
        </p:nvSpPr>
        <p:spPr>
          <a:xfrm>
            <a:off x="549020" y="1644134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5ECC2958-565C-F86F-DE21-A8A751A8FE99}"/>
              </a:ext>
            </a:extLst>
          </p:cNvPr>
          <p:cNvSpPr/>
          <p:nvPr/>
        </p:nvSpPr>
        <p:spPr>
          <a:xfrm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A035BAAC-A361-00F7-EB41-F1F362567924}"/>
              </a:ext>
            </a:extLst>
          </p:cNvPr>
          <p:cNvSpPr/>
          <p:nvPr/>
        </p:nvSpPr>
        <p:spPr>
          <a:xfrm>
            <a:off x="3369182" y="517875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chemeClr val="bg1"/>
                </a:solidFill>
              </a:rPr>
              <a:t>HTML – </a:t>
            </a:r>
            <a:r>
              <a:rPr b="1" dirty="0" err="1">
                <a:solidFill>
                  <a:schemeClr val="bg1"/>
                </a:solidFill>
              </a:rPr>
              <a:t>oldal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szerkezete</a:t>
            </a:r>
            <a:endParaRPr b="1" dirty="0">
              <a:solidFill>
                <a:schemeClr val="bg1"/>
              </a:solidFill>
            </a:endParaRPr>
          </a:p>
          <a:p>
            <a:pPr lvl="1"/>
            <a:r>
              <a:rPr b="1" dirty="0">
                <a:solidFill>
                  <a:schemeClr val="bg1"/>
                </a:solidFill>
              </a:rPr>
              <a:t>CSS – </a:t>
            </a:r>
            <a:r>
              <a:rPr b="1" dirty="0" err="1">
                <a:solidFill>
                  <a:schemeClr val="bg1"/>
                </a:solidFill>
              </a:rPr>
              <a:t>kinézet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és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animációk</a:t>
            </a:r>
            <a:endParaRPr b="1" dirty="0">
              <a:solidFill>
                <a:schemeClr val="bg1"/>
              </a:solidFill>
            </a:endParaRPr>
          </a:p>
          <a:p>
            <a:pPr lvl="1"/>
            <a:r>
              <a:rPr b="1" dirty="0">
                <a:solidFill>
                  <a:schemeClr val="bg1"/>
                </a:solidFill>
              </a:rPr>
              <a:t>JavaScript – </a:t>
            </a:r>
            <a:r>
              <a:rPr b="1" dirty="0" err="1">
                <a:solidFill>
                  <a:schemeClr val="bg1"/>
                </a:solidFill>
              </a:rPr>
              <a:t>játéklogika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működtetése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chemeClr val="bg1"/>
                </a:solidFill>
              </a:rPr>
              <a:t>Használt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technológiák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5379FBB-A12B-7EDB-94D2-A282D7AC7D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9F3561AD-67AE-0498-95E4-029520FD2F1C}"/>
              </a:ext>
            </a:extLst>
          </p:cNvPr>
          <p:cNvSpPr/>
          <p:nvPr/>
        </p:nvSpPr>
        <p:spPr>
          <a:xfrm>
            <a:off x="5203316" y="48463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864DEDCC-8514-07CC-D2E8-A09D80E0C975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0E0056D1-9C5F-3F24-F947-49B5D74462FD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514AFBA-A628-C4F2-192C-A3BBE63BFF68}"/>
              </a:ext>
            </a:extLst>
          </p:cNvPr>
          <p:cNvSpPr/>
          <p:nvPr/>
        </p:nvSpPr>
        <p:spPr>
          <a:xfrm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3344F0DD-0169-5395-BE07-3E0B4E73C50F}"/>
              </a:ext>
            </a:extLst>
          </p:cNvPr>
          <p:cNvSpPr/>
          <p:nvPr/>
        </p:nvSpPr>
        <p:spPr>
          <a:xfrm rot="21372240"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B860AB42-D296-6189-F01C-9DC7458E5E33}"/>
              </a:ext>
            </a:extLst>
          </p:cNvPr>
          <p:cNvSpPr/>
          <p:nvPr/>
        </p:nvSpPr>
        <p:spPr>
          <a:xfrm rot="20580315">
            <a:off x="6547863" y="34290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CA5D4AD5-4748-176E-0FA7-930C4166CB8F}"/>
              </a:ext>
            </a:extLst>
          </p:cNvPr>
          <p:cNvSpPr/>
          <p:nvPr/>
        </p:nvSpPr>
        <p:spPr>
          <a:xfrm>
            <a:off x="1741641" y="298628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51D4ED4-397B-B5B0-D748-DB9CAC87885D}"/>
              </a:ext>
            </a:extLst>
          </p:cNvPr>
          <p:cNvSpPr/>
          <p:nvPr/>
        </p:nvSpPr>
        <p:spPr>
          <a:xfrm>
            <a:off x="5049818" y="23853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083AFDA1-EA49-9A64-D3DA-8B7961A881F1}"/>
              </a:ext>
            </a:extLst>
          </p:cNvPr>
          <p:cNvSpPr/>
          <p:nvPr/>
        </p:nvSpPr>
        <p:spPr>
          <a:xfrm>
            <a:off x="549020" y="1644134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96D27779-59CD-DD43-FDC8-3F5C30BCC0DC}"/>
              </a:ext>
            </a:extLst>
          </p:cNvPr>
          <p:cNvSpPr/>
          <p:nvPr/>
        </p:nvSpPr>
        <p:spPr>
          <a:xfrm rot="3878666"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B7265680-60AC-B362-2EFE-219EC87B6148}"/>
              </a:ext>
            </a:extLst>
          </p:cNvPr>
          <p:cNvSpPr/>
          <p:nvPr/>
        </p:nvSpPr>
        <p:spPr>
          <a:xfrm rot="229460">
            <a:off x="3369182" y="517875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 err="1">
                <a:solidFill>
                  <a:schemeClr val="bg1"/>
                </a:solidFill>
              </a:rPr>
              <a:t>Szint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kiválasztása</a:t>
            </a:r>
            <a:r>
              <a:rPr b="1" dirty="0">
                <a:solidFill>
                  <a:schemeClr val="bg1"/>
                </a:solidFill>
              </a:rPr>
              <a:t> (pl. 4x4 </a:t>
            </a:r>
            <a:r>
              <a:rPr b="1" dirty="0" err="1">
                <a:solidFill>
                  <a:schemeClr val="bg1"/>
                </a:solidFill>
              </a:rPr>
              <a:t>rács</a:t>
            </a:r>
            <a:r>
              <a:rPr b="1" dirty="0">
                <a:solidFill>
                  <a:schemeClr val="bg1"/>
                </a:solidFill>
              </a:rPr>
              <a:t>).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Új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játék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gomb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megnyomása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Kártyák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véletlenszerű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keverése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Időzítő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elindítása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A </a:t>
            </a:r>
            <a:r>
              <a:rPr b="1" dirty="0" err="1">
                <a:solidFill>
                  <a:schemeClr val="bg1"/>
                </a:solidFill>
              </a:rPr>
              <a:t>játék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működése</a:t>
            </a:r>
            <a:r>
              <a:rPr b="1" dirty="0">
                <a:solidFill>
                  <a:schemeClr val="bg1"/>
                </a:solidFill>
              </a:rPr>
              <a:t> – </a:t>
            </a:r>
            <a:r>
              <a:rPr b="1" dirty="0" err="1">
                <a:solidFill>
                  <a:schemeClr val="bg1"/>
                </a:solidFill>
              </a:rPr>
              <a:t>Indítás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024660D-5682-F580-6772-752FED0195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23204AE8-90D5-1842-00D2-882D01751923}"/>
              </a:ext>
            </a:extLst>
          </p:cNvPr>
          <p:cNvSpPr/>
          <p:nvPr/>
        </p:nvSpPr>
        <p:spPr>
          <a:xfrm>
            <a:off x="5203316" y="48463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2E22A535-0049-979C-D6B1-5721247B335E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417B14D0-3E66-ECF7-4094-8B965E35654B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E0C09132-BCF1-5D0C-AC48-675C3F94CA19}"/>
              </a:ext>
            </a:extLst>
          </p:cNvPr>
          <p:cNvSpPr/>
          <p:nvPr/>
        </p:nvSpPr>
        <p:spPr>
          <a:xfrm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FD9DD829-4299-7D80-A14A-3CF99B4838EE}"/>
              </a:ext>
            </a:extLst>
          </p:cNvPr>
          <p:cNvSpPr/>
          <p:nvPr/>
        </p:nvSpPr>
        <p:spPr>
          <a:xfrm rot="428176"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6FC6E7B5-7076-6191-3167-BE398BA5D391}"/>
              </a:ext>
            </a:extLst>
          </p:cNvPr>
          <p:cNvSpPr/>
          <p:nvPr/>
        </p:nvSpPr>
        <p:spPr>
          <a:xfrm>
            <a:off x="6547863" y="34290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E940D22D-FC29-4D07-5ECC-EEEF67A27C0A}"/>
              </a:ext>
            </a:extLst>
          </p:cNvPr>
          <p:cNvSpPr/>
          <p:nvPr/>
        </p:nvSpPr>
        <p:spPr>
          <a:xfrm>
            <a:off x="1741641" y="298628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332D2F9-D68E-48B0-3F1C-82732C95AC10}"/>
              </a:ext>
            </a:extLst>
          </p:cNvPr>
          <p:cNvSpPr/>
          <p:nvPr/>
        </p:nvSpPr>
        <p:spPr>
          <a:xfrm>
            <a:off x="5049818" y="23853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391E8E56-64F6-7219-DD82-35BF7396CC8A}"/>
              </a:ext>
            </a:extLst>
          </p:cNvPr>
          <p:cNvSpPr/>
          <p:nvPr/>
        </p:nvSpPr>
        <p:spPr>
          <a:xfrm>
            <a:off x="549020" y="1644134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00CCB4B7-A8A9-62E4-7D50-477583B41E62}"/>
              </a:ext>
            </a:extLst>
          </p:cNvPr>
          <p:cNvSpPr/>
          <p:nvPr/>
        </p:nvSpPr>
        <p:spPr>
          <a:xfrm rot="1603114"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62E0D1C7-506C-CA91-8469-9150996E7EBD}"/>
              </a:ext>
            </a:extLst>
          </p:cNvPr>
          <p:cNvSpPr/>
          <p:nvPr/>
        </p:nvSpPr>
        <p:spPr>
          <a:xfrm rot="17907827">
            <a:off x="3369182" y="517875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chemeClr val="bg1"/>
                </a:solidFill>
              </a:rPr>
              <a:t>Kártyák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generálása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chemeClr val="bg1"/>
                </a:solidFill>
              </a:rPr>
              <a:t>A program </a:t>
            </a:r>
            <a:r>
              <a:rPr b="1" dirty="0" err="1">
                <a:solidFill>
                  <a:schemeClr val="bg1"/>
                </a:solidFill>
              </a:rPr>
              <a:t>kiválasztja</a:t>
            </a:r>
            <a:r>
              <a:rPr b="1" dirty="0">
                <a:solidFill>
                  <a:schemeClr val="bg1"/>
                </a:solidFill>
              </a:rPr>
              <a:t> a </a:t>
            </a:r>
            <a:r>
              <a:rPr b="1" dirty="0" err="1">
                <a:solidFill>
                  <a:schemeClr val="bg1"/>
                </a:solidFill>
              </a:rPr>
              <a:t>szükséges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számú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képet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>
                <a:solidFill>
                  <a:schemeClr val="bg1"/>
                </a:solidFill>
              </a:rPr>
              <a:t>A </a:t>
            </a:r>
            <a:r>
              <a:rPr b="1" dirty="0" err="1">
                <a:solidFill>
                  <a:schemeClr val="bg1"/>
                </a:solidFill>
              </a:rPr>
              <a:t>képeket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duplikálja</a:t>
            </a:r>
            <a:r>
              <a:rPr b="1" dirty="0">
                <a:solidFill>
                  <a:schemeClr val="bg1"/>
                </a:solidFill>
              </a:rPr>
              <a:t> (</a:t>
            </a:r>
            <a:r>
              <a:rPr b="1" dirty="0" err="1">
                <a:solidFill>
                  <a:schemeClr val="bg1"/>
                </a:solidFill>
              </a:rPr>
              <a:t>párok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létrehozása</a:t>
            </a:r>
            <a:r>
              <a:rPr b="1" dirty="0">
                <a:solidFill>
                  <a:schemeClr val="bg1"/>
                </a:solidFill>
              </a:rPr>
              <a:t>).</a:t>
            </a:r>
          </a:p>
          <a:p>
            <a:pPr lvl="1"/>
            <a:r>
              <a:rPr b="1" dirty="0">
                <a:solidFill>
                  <a:schemeClr val="bg1"/>
                </a:solidFill>
              </a:rPr>
              <a:t>A </a:t>
            </a:r>
            <a:r>
              <a:rPr b="1" dirty="0" err="1">
                <a:solidFill>
                  <a:schemeClr val="bg1"/>
                </a:solidFill>
              </a:rPr>
              <a:t>paklit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megkeveri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Dinamikusan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létrehozza</a:t>
            </a:r>
            <a:r>
              <a:rPr b="1" dirty="0">
                <a:solidFill>
                  <a:schemeClr val="bg1"/>
                </a:solidFill>
              </a:rPr>
              <a:t> a </a:t>
            </a:r>
            <a:r>
              <a:rPr b="1" dirty="0" err="1">
                <a:solidFill>
                  <a:schemeClr val="bg1"/>
                </a:solidFill>
              </a:rPr>
              <a:t>kártya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elemeket</a:t>
            </a:r>
            <a:r>
              <a:rPr b="1" dirty="0">
                <a:solidFill>
                  <a:schemeClr val="bg1"/>
                </a:solidFill>
              </a:rPr>
              <a:t> a DOM-ban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3FEE0F6-78EE-52A9-1707-C2CF7C8B3C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369FDC99-DAC6-E6F2-6F24-72F703DF7151}"/>
              </a:ext>
            </a:extLst>
          </p:cNvPr>
          <p:cNvSpPr/>
          <p:nvPr/>
        </p:nvSpPr>
        <p:spPr>
          <a:xfrm>
            <a:off x="5203316" y="48463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ED3B5CF5-5025-E3D0-BCE6-6ABADB6622D3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0DBCC8DD-7FB5-B0DC-45FC-7FEFD79983B2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BE15C53A-324E-FC88-CB73-51361731336E}"/>
              </a:ext>
            </a:extLst>
          </p:cNvPr>
          <p:cNvSpPr/>
          <p:nvPr/>
        </p:nvSpPr>
        <p:spPr>
          <a:xfrm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CED69184-1E69-EBCE-D131-34BFEE78ABC9}"/>
              </a:ext>
            </a:extLst>
          </p:cNvPr>
          <p:cNvSpPr/>
          <p:nvPr/>
        </p:nvSpPr>
        <p:spPr>
          <a:xfrm rot="1328991"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86540CB7-6C01-CA8D-7740-ACB232921821}"/>
              </a:ext>
            </a:extLst>
          </p:cNvPr>
          <p:cNvSpPr/>
          <p:nvPr/>
        </p:nvSpPr>
        <p:spPr>
          <a:xfrm>
            <a:off x="6547863" y="34290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5B99507D-1F43-8A28-EC35-AB1D8C483722}"/>
              </a:ext>
            </a:extLst>
          </p:cNvPr>
          <p:cNvSpPr/>
          <p:nvPr/>
        </p:nvSpPr>
        <p:spPr>
          <a:xfrm>
            <a:off x="1741641" y="298628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B3314FC0-7897-3C2E-BB04-B7E24D13D434}"/>
              </a:ext>
            </a:extLst>
          </p:cNvPr>
          <p:cNvSpPr/>
          <p:nvPr/>
        </p:nvSpPr>
        <p:spPr>
          <a:xfrm>
            <a:off x="5049818" y="23853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ADE67AD5-3AE8-B4B8-1724-931025613F55}"/>
              </a:ext>
            </a:extLst>
          </p:cNvPr>
          <p:cNvSpPr/>
          <p:nvPr/>
        </p:nvSpPr>
        <p:spPr>
          <a:xfrm>
            <a:off x="549020" y="1644134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87EA738F-CFF1-9409-DEC8-3A23C717AE46}"/>
              </a:ext>
            </a:extLst>
          </p:cNvPr>
          <p:cNvSpPr/>
          <p:nvPr/>
        </p:nvSpPr>
        <p:spPr>
          <a:xfrm rot="586928"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5CCCDA2D-D9D0-2DB2-C3C9-DFF41AAA406D}"/>
              </a:ext>
            </a:extLst>
          </p:cNvPr>
          <p:cNvSpPr/>
          <p:nvPr/>
        </p:nvSpPr>
        <p:spPr>
          <a:xfrm rot="20319639">
            <a:off x="3369182" y="517875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chemeClr val="bg1"/>
                </a:solidFill>
              </a:rPr>
              <a:t>Játéklogika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 err="1">
                <a:solidFill>
                  <a:schemeClr val="bg1"/>
                </a:solidFill>
              </a:rPr>
              <a:t>Két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kártya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kiválasztása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után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ellenőrzés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történik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>
                <a:solidFill>
                  <a:schemeClr val="bg1"/>
                </a:solidFill>
              </a:rPr>
              <a:t>Ha </a:t>
            </a:r>
            <a:r>
              <a:rPr b="1" dirty="0" err="1">
                <a:solidFill>
                  <a:schemeClr val="bg1"/>
                </a:solidFill>
              </a:rPr>
              <a:t>egyeznek</a:t>
            </a:r>
            <a:r>
              <a:rPr b="1" dirty="0">
                <a:solidFill>
                  <a:schemeClr val="bg1"/>
                </a:solidFill>
              </a:rPr>
              <a:t> → </a:t>
            </a:r>
            <a:r>
              <a:rPr lang="hu-HU" b="1" dirty="0">
                <a:solidFill>
                  <a:schemeClr val="bg1"/>
                </a:solidFill>
              </a:rPr>
              <a:t>felfordítva maradnak.</a:t>
            </a:r>
          </a:p>
          <a:p>
            <a:pPr lvl="1"/>
            <a:r>
              <a:rPr lang="hu-HU" b="1" dirty="0">
                <a:solidFill>
                  <a:schemeClr val="bg1"/>
                </a:solidFill>
              </a:rPr>
              <a:t>Ha nem egyeznek → visszafordulnak.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Lépésszámláló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minden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próbálkozásnál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növekszik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C553120-11E8-98E3-5584-20F4C2ADC6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6E4B6D53-3546-51AC-0643-FAE223F82B1C}"/>
              </a:ext>
            </a:extLst>
          </p:cNvPr>
          <p:cNvSpPr/>
          <p:nvPr/>
        </p:nvSpPr>
        <p:spPr>
          <a:xfrm>
            <a:off x="5203316" y="48463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D71BA45B-2CAF-4417-A62D-E2BD9151BEF9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A3DD9D7C-5BB8-A7D7-DB5C-F91352CFC876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55A5E0C8-DF36-08C8-DDDC-61BC36736DDA}"/>
              </a:ext>
            </a:extLst>
          </p:cNvPr>
          <p:cNvSpPr/>
          <p:nvPr/>
        </p:nvSpPr>
        <p:spPr>
          <a:xfrm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726DCD07-8DC0-C15B-57C3-2C255D708F91}"/>
              </a:ext>
            </a:extLst>
          </p:cNvPr>
          <p:cNvSpPr/>
          <p:nvPr/>
        </p:nvSpPr>
        <p:spPr>
          <a:xfrm rot="21075054"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BA079358-127E-470B-F3AF-153829A347BB}"/>
              </a:ext>
            </a:extLst>
          </p:cNvPr>
          <p:cNvSpPr/>
          <p:nvPr/>
        </p:nvSpPr>
        <p:spPr>
          <a:xfrm>
            <a:off x="6547863" y="34290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CC06AB1A-A68D-403B-3B70-5D09E99A3DA9}"/>
              </a:ext>
            </a:extLst>
          </p:cNvPr>
          <p:cNvSpPr/>
          <p:nvPr/>
        </p:nvSpPr>
        <p:spPr>
          <a:xfrm rot="1102685">
            <a:off x="3369182" y="374587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55AEE61A-161C-F3AC-5C86-972816881A69}"/>
              </a:ext>
            </a:extLst>
          </p:cNvPr>
          <p:cNvSpPr/>
          <p:nvPr/>
        </p:nvSpPr>
        <p:spPr>
          <a:xfrm>
            <a:off x="5049818" y="23853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545C366A-100D-9580-3737-539F9466A5B5}"/>
              </a:ext>
            </a:extLst>
          </p:cNvPr>
          <p:cNvSpPr/>
          <p:nvPr/>
        </p:nvSpPr>
        <p:spPr>
          <a:xfrm rot="20699757">
            <a:off x="372043" y="29989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015A8B37-BB20-3F17-C06B-DFA38C4ADBFA}"/>
              </a:ext>
            </a:extLst>
          </p:cNvPr>
          <p:cNvSpPr/>
          <p:nvPr/>
        </p:nvSpPr>
        <p:spPr>
          <a:xfrm rot="20539092"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54E21BE7-A6DC-E142-277B-B5097655E064}"/>
              </a:ext>
            </a:extLst>
          </p:cNvPr>
          <p:cNvSpPr/>
          <p:nvPr/>
        </p:nvSpPr>
        <p:spPr>
          <a:xfrm rot="21180979">
            <a:off x="3369182" y="517875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chemeClr val="bg1"/>
                </a:solidFill>
              </a:rPr>
              <a:t>+300 </a:t>
            </a:r>
            <a:r>
              <a:rPr b="1" dirty="0" err="1">
                <a:solidFill>
                  <a:schemeClr val="bg1"/>
                </a:solidFill>
              </a:rPr>
              <a:t>pont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minden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helyes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párért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>
                <a:solidFill>
                  <a:schemeClr val="bg1"/>
                </a:solidFill>
              </a:rPr>
              <a:t>-100 </a:t>
            </a:r>
            <a:r>
              <a:rPr b="1" dirty="0" err="1">
                <a:solidFill>
                  <a:schemeClr val="bg1"/>
                </a:solidFill>
              </a:rPr>
              <a:t>pont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hibás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próbálkozásért</a:t>
            </a:r>
            <a:r>
              <a:rPr b="1" dirty="0">
                <a:solidFill>
                  <a:schemeClr val="bg1"/>
                </a:solidFill>
              </a:rPr>
              <a:t> (</a:t>
            </a:r>
            <a:r>
              <a:rPr b="1" dirty="0" err="1">
                <a:solidFill>
                  <a:schemeClr val="bg1"/>
                </a:solidFill>
              </a:rPr>
              <a:t>első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találat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után</a:t>
            </a:r>
            <a:r>
              <a:rPr b="1" dirty="0">
                <a:solidFill>
                  <a:schemeClr val="bg1"/>
                </a:solidFill>
              </a:rPr>
              <a:t>).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Pontszám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folyamatos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frissítése</a:t>
            </a:r>
            <a:r>
              <a:rPr b="1" dirty="0">
                <a:solidFill>
                  <a:schemeClr val="bg1"/>
                </a:solidFill>
              </a:rPr>
              <a:t> a </a:t>
            </a:r>
            <a:r>
              <a:rPr b="1" dirty="0" err="1">
                <a:solidFill>
                  <a:schemeClr val="bg1"/>
                </a:solidFill>
              </a:rPr>
              <a:t>képernyőn</a:t>
            </a:r>
            <a:r>
              <a:rPr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chemeClr val="bg1"/>
                </a:solidFill>
              </a:rPr>
              <a:t>Pontozási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rendszer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4EAB88B-77AB-25F9-BF04-A8DB3C93EE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5C8A33C5-FD3F-4508-EE8A-37CF36CA98FE}"/>
              </a:ext>
            </a:extLst>
          </p:cNvPr>
          <p:cNvSpPr/>
          <p:nvPr/>
        </p:nvSpPr>
        <p:spPr>
          <a:xfrm>
            <a:off x="5203316" y="48463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53C7187B-B900-E962-0BCB-AF2BE4E63E93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328F2114-DA81-7550-F3A4-278F0380E785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64B552E2-D1A8-9DE2-EBFD-9DB9FC7499A3}"/>
              </a:ext>
            </a:extLst>
          </p:cNvPr>
          <p:cNvSpPr/>
          <p:nvPr/>
        </p:nvSpPr>
        <p:spPr>
          <a:xfrm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58EC10F7-9A8A-AC0A-7250-7BE3253B7AB8}"/>
              </a:ext>
            </a:extLst>
          </p:cNvPr>
          <p:cNvSpPr/>
          <p:nvPr/>
        </p:nvSpPr>
        <p:spPr>
          <a:xfrm rot="625476"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A550620F-1228-65F7-C99D-20D30710627B}"/>
              </a:ext>
            </a:extLst>
          </p:cNvPr>
          <p:cNvSpPr/>
          <p:nvPr/>
        </p:nvSpPr>
        <p:spPr>
          <a:xfrm>
            <a:off x="6547863" y="34290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1395D5B-D921-98B6-4779-8AE91F5B9911}"/>
              </a:ext>
            </a:extLst>
          </p:cNvPr>
          <p:cNvSpPr/>
          <p:nvPr/>
        </p:nvSpPr>
        <p:spPr>
          <a:xfrm>
            <a:off x="1741641" y="298628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34898E22-D065-2224-6730-A6FFD3A348BA}"/>
              </a:ext>
            </a:extLst>
          </p:cNvPr>
          <p:cNvSpPr/>
          <p:nvPr/>
        </p:nvSpPr>
        <p:spPr>
          <a:xfrm>
            <a:off x="5049818" y="23853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559FD5BB-0FE1-CC8C-2313-2C7C69CBAADA}"/>
              </a:ext>
            </a:extLst>
          </p:cNvPr>
          <p:cNvSpPr/>
          <p:nvPr/>
        </p:nvSpPr>
        <p:spPr>
          <a:xfrm>
            <a:off x="549020" y="1644134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2D552132-0550-D743-8E2A-E69B83E25C69}"/>
              </a:ext>
            </a:extLst>
          </p:cNvPr>
          <p:cNvSpPr/>
          <p:nvPr/>
        </p:nvSpPr>
        <p:spPr>
          <a:xfrm rot="20402910"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D21066BE-D429-723D-3545-9C57FE558E03}"/>
              </a:ext>
            </a:extLst>
          </p:cNvPr>
          <p:cNvSpPr/>
          <p:nvPr/>
        </p:nvSpPr>
        <p:spPr>
          <a:xfrm rot="21199297">
            <a:off x="3369182" y="517875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chemeClr val="bg1"/>
                </a:solidFill>
              </a:rPr>
              <a:t>Időmérés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chemeClr val="bg1"/>
                </a:solidFill>
              </a:rPr>
              <a:t>A </a:t>
            </a:r>
            <a:r>
              <a:rPr b="1" dirty="0" err="1">
                <a:solidFill>
                  <a:schemeClr val="bg1"/>
                </a:solidFill>
              </a:rPr>
              <a:t>játék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indításakor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időzítő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indul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Másodpercenként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frissül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>
                <a:solidFill>
                  <a:schemeClr val="bg1"/>
                </a:solidFill>
              </a:rPr>
              <a:t>A </a:t>
            </a:r>
            <a:r>
              <a:rPr b="1" dirty="0" err="1">
                <a:solidFill>
                  <a:schemeClr val="bg1"/>
                </a:solidFill>
              </a:rPr>
              <a:t>végén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kiírja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az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eltelt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időt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D21F42A-1B6B-52C8-05DC-2B5265892A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53628674-130D-3879-AB5C-1BEEF6237447}"/>
              </a:ext>
            </a:extLst>
          </p:cNvPr>
          <p:cNvSpPr/>
          <p:nvPr/>
        </p:nvSpPr>
        <p:spPr>
          <a:xfrm>
            <a:off x="5203316" y="48463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0444F37-436B-BA30-0A19-757EE9A33288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54D4089A-2E22-8CF4-4DEA-C7873C93D336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2C6A06F-520A-327B-41D6-05E85784ECAC}"/>
              </a:ext>
            </a:extLst>
          </p:cNvPr>
          <p:cNvSpPr/>
          <p:nvPr/>
        </p:nvSpPr>
        <p:spPr>
          <a:xfrm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40CE9E86-DE30-4E4C-C01E-6CA85B600F0A}"/>
              </a:ext>
            </a:extLst>
          </p:cNvPr>
          <p:cNvSpPr/>
          <p:nvPr/>
        </p:nvSpPr>
        <p:spPr>
          <a:xfrm rot="21298867"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703D853C-19DA-7EC0-7CD7-C978D381F10F}"/>
              </a:ext>
            </a:extLst>
          </p:cNvPr>
          <p:cNvSpPr/>
          <p:nvPr/>
        </p:nvSpPr>
        <p:spPr>
          <a:xfrm>
            <a:off x="6547863" y="34290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FDC13A08-FAC2-6631-B734-16697D9D265B}"/>
              </a:ext>
            </a:extLst>
          </p:cNvPr>
          <p:cNvSpPr/>
          <p:nvPr/>
        </p:nvSpPr>
        <p:spPr>
          <a:xfrm>
            <a:off x="1741641" y="298628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EE2ED60D-4E66-FD07-94E8-558133602851}"/>
              </a:ext>
            </a:extLst>
          </p:cNvPr>
          <p:cNvSpPr/>
          <p:nvPr/>
        </p:nvSpPr>
        <p:spPr>
          <a:xfrm>
            <a:off x="5049818" y="23853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9CADACDE-60CA-7355-F954-F4D76136944C}"/>
              </a:ext>
            </a:extLst>
          </p:cNvPr>
          <p:cNvSpPr/>
          <p:nvPr/>
        </p:nvSpPr>
        <p:spPr>
          <a:xfrm>
            <a:off x="549020" y="1644134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59962568-DBB4-0A6E-7059-EF53FD32ADCC}"/>
              </a:ext>
            </a:extLst>
          </p:cNvPr>
          <p:cNvSpPr/>
          <p:nvPr/>
        </p:nvSpPr>
        <p:spPr>
          <a:xfrm rot="21067769"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83E48AE4-B6C0-B3BE-19E3-2C0A781FC0F1}"/>
              </a:ext>
            </a:extLst>
          </p:cNvPr>
          <p:cNvSpPr/>
          <p:nvPr/>
        </p:nvSpPr>
        <p:spPr>
          <a:xfrm rot="430169">
            <a:off x="3369182" y="517875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chemeClr val="bg1"/>
                </a:solidFill>
              </a:rPr>
              <a:t>Ha </a:t>
            </a:r>
            <a:r>
              <a:rPr b="1" dirty="0" err="1">
                <a:solidFill>
                  <a:schemeClr val="bg1"/>
                </a:solidFill>
              </a:rPr>
              <a:t>az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összes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párt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megtaláltuk</a:t>
            </a:r>
            <a:r>
              <a:rPr b="1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Időzítő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leáll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Megjelenik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az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eredmény</a:t>
            </a:r>
            <a:r>
              <a:rPr b="1" dirty="0">
                <a:solidFill>
                  <a:schemeClr val="bg1"/>
                </a:solidFill>
              </a:rPr>
              <a:t> (</a:t>
            </a:r>
            <a:r>
              <a:rPr b="1" dirty="0" err="1">
                <a:solidFill>
                  <a:schemeClr val="bg1"/>
                </a:solidFill>
              </a:rPr>
              <a:t>pontszám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lépések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idő</a:t>
            </a:r>
            <a:r>
              <a:rPr b="1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A </a:t>
            </a:r>
            <a:r>
              <a:rPr b="1" dirty="0" err="1">
                <a:solidFill>
                  <a:schemeClr val="bg1"/>
                </a:solidFill>
              </a:rPr>
              <a:t>játék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vége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587C225-C557-8BA5-C0C1-96EBF8378F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05681" y="6528816"/>
            <a:ext cx="438318" cy="32918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67F74E65-FB5A-5010-6B92-DD1632D0F924}"/>
              </a:ext>
            </a:extLst>
          </p:cNvPr>
          <p:cNvSpPr/>
          <p:nvPr/>
        </p:nvSpPr>
        <p:spPr>
          <a:xfrm>
            <a:off x="5203316" y="484632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36CC17BB-56DD-7E43-A189-FE9D1F43F0E8}"/>
              </a:ext>
            </a:extLst>
          </p:cNvPr>
          <p:cNvSpPr/>
          <p:nvPr/>
        </p:nvSpPr>
        <p:spPr>
          <a:xfrm rot="1317563">
            <a:off x="6684644" y="1216152"/>
            <a:ext cx="941832" cy="9142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C7C633C5-D2AE-D43F-C8E0-1CDB8CD01344}"/>
              </a:ext>
            </a:extLst>
          </p:cNvPr>
          <p:cNvSpPr/>
          <p:nvPr/>
        </p:nvSpPr>
        <p:spPr>
          <a:xfrm rot="20050081">
            <a:off x="2959988" y="1193228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B575DBD8-EEF0-AF22-4494-8A0ACBC140D6}"/>
              </a:ext>
            </a:extLst>
          </p:cNvPr>
          <p:cNvSpPr/>
          <p:nvPr/>
        </p:nvSpPr>
        <p:spPr>
          <a:xfrm>
            <a:off x="1583812" y="62807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8CBF75A7-2247-85DD-E3E7-4BDAA8F776C0}"/>
              </a:ext>
            </a:extLst>
          </p:cNvPr>
          <p:cNvSpPr/>
          <p:nvPr/>
        </p:nvSpPr>
        <p:spPr>
          <a:xfrm rot="392026">
            <a:off x="687700" y="47625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535206B7-BE0A-D92B-E09C-B126DECB8B41}"/>
              </a:ext>
            </a:extLst>
          </p:cNvPr>
          <p:cNvSpPr/>
          <p:nvPr/>
        </p:nvSpPr>
        <p:spPr>
          <a:xfrm>
            <a:off x="6547863" y="34290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EE06CBED-E165-8317-FDB4-DFB0E91FF4E9}"/>
              </a:ext>
            </a:extLst>
          </p:cNvPr>
          <p:cNvSpPr/>
          <p:nvPr/>
        </p:nvSpPr>
        <p:spPr>
          <a:xfrm>
            <a:off x="1741641" y="298628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C44563E5-3A8D-B09D-2EA8-1F3ED09DB3D7}"/>
              </a:ext>
            </a:extLst>
          </p:cNvPr>
          <p:cNvSpPr/>
          <p:nvPr/>
        </p:nvSpPr>
        <p:spPr>
          <a:xfrm>
            <a:off x="5049818" y="2385377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606DBF6E-DA37-1E40-8819-D492981311B8}"/>
              </a:ext>
            </a:extLst>
          </p:cNvPr>
          <p:cNvSpPr/>
          <p:nvPr/>
        </p:nvSpPr>
        <p:spPr>
          <a:xfrm>
            <a:off x="549020" y="1644134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48543907-5F4D-7D1F-B254-E6FA49415637}"/>
              </a:ext>
            </a:extLst>
          </p:cNvPr>
          <p:cNvSpPr/>
          <p:nvPr/>
        </p:nvSpPr>
        <p:spPr>
          <a:xfrm rot="499115">
            <a:off x="6259448" y="5638800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26D814B4-4619-9CFF-2F57-D6DB3DD07C1E}"/>
              </a:ext>
            </a:extLst>
          </p:cNvPr>
          <p:cNvSpPr/>
          <p:nvPr/>
        </p:nvSpPr>
        <p:spPr>
          <a:xfrm rot="380787">
            <a:off x="3369182" y="5178755"/>
            <a:ext cx="896112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 err="1">
                <a:solidFill>
                  <a:schemeClr val="bg1"/>
                </a:solidFill>
              </a:rPr>
              <a:t>Interaktív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és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szórakoztató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memóriajáték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Fejleszti</a:t>
            </a:r>
            <a:r>
              <a:rPr b="1" dirty="0">
                <a:solidFill>
                  <a:schemeClr val="bg1"/>
                </a:solidFill>
              </a:rPr>
              <a:t> a </a:t>
            </a:r>
            <a:r>
              <a:rPr b="1" dirty="0" err="1">
                <a:solidFill>
                  <a:schemeClr val="bg1"/>
                </a:solidFill>
              </a:rPr>
              <a:t>memóriát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és</a:t>
            </a:r>
            <a:r>
              <a:rPr b="1" dirty="0">
                <a:solidFill>
                  <a:schemeClr val="bg1"/>
                </a:solidFill>
              </a:rPr>
              <a:t> a </a:t>
            </a:r>
            <a:r>
              <a:rPr b="1" dirty="0" err="1">
                <a:solidFill>
                  <a:schemeClr val="bg1"/>
                </a:solidFill>
              </a:rPr>
              <a:t>koncentrációt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b="1" dirty="0" err="1">
                <a:solidFill>
                  <a:schemeClr val="bg1"/>
                </a:solidFill>
              </a:rPr>
              <a:t>Bővíthető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további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funkciókkal</a:t>
            </a:r>
            <a:r>
              <a:rPr b="1" dirty="0">
                <a:solidFill>
                  <a:schemeClr val="bg1"/>
                </a:solidFill>
              </a:rPr>
              <a:t> (pl. </a:t>
            </a:r>
            <a:r>
              <a:rPr b="1" dirty="0" err="1">
                <a:solidFill>
                  <a:schemeClr val="bg1"/>
                </a:solidFill>
              </a:rPr>
              <a:t>ranglista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hangok</a:t>
            </a:r>
            <a:r>
              <a:rPr b="1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chemeClr val="bg1"/>
                </a:solidFill>
              </a:rPr>
              <a:t>Összegzés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AB2D5A-3BA7-7B72-67C6-B836D1522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60" y="5576887"/>
            <a:ext cx="818388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hu-HU" sz="2800" dirty="0"/>
              <a:t>Köszönjük a figyelmet! </a:t>
            </a:r>
            <a:r>
              <a:rPr lang="hu-HU" sz="2800" dirty="0">
                <a:sym typeface="Wingdings" panose="05000000000000000000" pitchFamily="2" charset="2"/>
              </a:rPr>
              <a:t></a:t>
            </a:r>
            <a:r>
              <a:rPr lang="en-US" sz="2800" dirty="0"/>
              <a:t> </a:t>
            </a:r>
          </a:p>
        </p:txBody>
      </p:sp>
      <p:pic>
        <p:nvPicPr>
          <p:cNvPr id="4" name="Kép 3" descr="A képen ég, Emberi arc, személy, felh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2A60003-5D5F-335D-CD69-12BA53A1BC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8" r="1" b="1"/>
          <a:stretch>
            <a:fillRect/>
          </a:stretch>
        </p:blipFill>
        <p:spPr>
          <a:xfrm>
            <a:off x="480060" y="640080"/>
            <a:ext cx="818388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206530C1-992A-BFE7-35E3-CA8FB6AD74ED}"/>
              </a:ext>
            </a:extLst>
          </p:cNvPr>
          <p:cNvSpPr txBox="1"/>
          <p:nvPr/>
        </p:nvSpPr>
        <p:spPr>
          <a:xfrm>
            <a:off x="3620489" y="170736"/>
            <a:ext cx="1910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„Mi ez a gyerek!?”</a:t>
            </a:r>
          </a:p>
        </p:txBody>
      </p:sp>
    </p:spTree>
    <p:extLst>
      <p:ext uri="{BB962C8B-B14F-4D97-AF65-F5344CB8AC3E}">
        <p14:creationId xmlns:p14="http://schemas.microsoft.com/office/powerpoint/2010/main" val="1476860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229</Words>
  <Application>Microsoft Office PowerPoint</Application>
  <PresentationFormat>Diavetítés a képernyőre (4:3 oldalarány)</PresentationFormat>
  <Paragraphs>45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Memóriajáték Projekt</vt:lpstr>
      <vt:lpstr>A projekt célja</vt:lpstr>
      <vt:lpstr>Használt technológiák</vt:lpstr>
      <vt:lpstr>A játék működése – Indítás</vt:lpstr>
      <vt:lpstr>Kártyák generálása</vt:lpstr>
      <vt:lpstr>Játéklogika</vt:lpstr>
      <vt:lpstr>Pontozási rendszer</vt:lpstr>
      <vt:lpstr>Időmérés</vt:lpstr>
      <vt:lpstr>A játék vége</vt:lpstr>
      <vt:lpstr>Összegzés</vt:lpstr>
      <vt:lpstr>Köszönjük a figyelmet! 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O365 felhasználó</cp:lastModifiedBy>
  <cp:revision>27</cp:revision>
  <dcterms:created xsi:type="dcterms:W3CDTF">2013-01-27T09:14:16Z</dcterms:created>
  <dcterms:modified xsi:type="dcterms:W3CDTF">2026-02-25T18:58:12Z</dcterms:modified>
  <cp:category/>
</cp:coreProperties>
</file>